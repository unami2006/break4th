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ITC Avant Garde Gothic" charset="1" panose="020B0502020202020204"/>
      <p:regular r:id="rId13"/>
    </p:embeddedFont>
    <p:embeddedFont>
      <p:font typeface="TT Fors" charset="1" panose="020B0003030001020000"/>
      <p:regular r:id="rId14"/>
    </p:embeddedFont>
    <p:embeddedFont>
      <p:font typeface="Canva Sans" charset="1" panose="020B0503030501040103"/>
      <p:regular r:id="rId15"/>
    </p:embeddedFont>
    <p:embeddedFont>
      <p:font typeface="TT Fors Bold" charset="1" panose="020B0003030001020000"/>
      <p:regular r:id="rId16"/>
    </p:embeddedFont>
    <p:embeddedFont>
      <p:font typeface="ITC Avant Garde Gothic Bold" charset="1" panose="020B0802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40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775" t="0" r="-77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2710180"/>
            <a:chOff x="0" y="0"/>
            <a:chExt cx="13017500" cy="361357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423035"/>
              <a:ext cx="13017500" cy="2190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900"/>
                </a:lnSpc>
              </a:pPr>
              <a:r>
                <a:rPr lang="en-US" sz="5900" spc="-177">
                  <a:solidFill>
                    <a:srgbClr val="FEFFF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ClinAssist AI: The Voice-First Clinical Assistant.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52400"/>
              <a:ext cx="13017500" cy="912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20"/>
                </a:lnSpc>
                <a:spcBef>
                  <a:spcPct val="0"/>
                </a:spcBef>
              </a:pPr>
              <a:r>
                <a:rPr lang="en-US" sz="3800">
                  <a:solidFill>
                    <a:srgbClr val="FEFFF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CLINASSIST AI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FEFFFD"/>
                </a:solidFill>
                <a:latin typeface="TT Fors"/>
                <a:ea typeface="TT Fors"/>
                <a:cs typeface="TT Fors"/>
                <a:sym typeface="TT Fors"/>
              </a:rPr>
              <a:t>Presented by Break4th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5750" y="4349982"/>
            <a:ext cx="11582400" cy="250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FEFFFD"/>
                </a:solidFill>
                <a:latin typeface="Canva Sans"/>
                <a:ea typeface="Canva Sans"/>
                <a:cs typeface="Canva Sans"/>
                <a:sym typeface="Canva Sans"/>
              </a:rPr>
              <a:t>Transforming clinician-patient interactions into structured intelligence.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E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582" y="737060"/>
            <a:ext cx="5173533" cy="649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4200" spc="-126">
                <a:solidFill>
                  <a:srgbClr val="69005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Problem Statement: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09917" y="629116"/>
            <a:ext cx="12978083" cy="141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-78">
                <a:solidFill>
                  <a:srgbClr val="69005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Healthcare professionals spend  a significant amount of time on documentation instead of direct patient care. Studies show that doctors can spend up to 40% of their time writing notes, updating records, and handling administrative tasks.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582" y="2429976"/>
            <a:ext cx="7662074" cy="65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6"/>
              </a:lnSpc>
              <a:spcBef>
                <a:spcPct val="0"/>
              </a:spcBef>
            </a:pPr>
            <a:r>
              <a:rPr lang="en-US" sz="4326" spc="-129" strike="noStrike" u="none">
                <a:solidFill>
                  <a:srgbClr val="69005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Healthcare Challenges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63582" y="8063856"/>
            <a:ext cx="6480502" cy="1617476"/>
            <a:chOff x="0" y="0"/>
            <a:chExt cx="8640670" cy="215663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40652"/>
              <a:ext cx="8640670" cy="1315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5"/>
                </a:lnSpc>
              </a:pPr>
              <a:r>
                <a:rPr lang="en-US" sz="1896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Medication access can require extra time and travel, which complicates patients' ability to adhere to treatment plans effectively.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8640670" cy="556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87"/>
                </a:lnSpc>
                <a:spcBef>
                  <a:spcPct val="0"/>
                </a:spcBef>
              </a:pPr>
              <a:r>
                <a:rPr lang="en-US" sz="2348" spc="-70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Access to Medication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3582" y="5814040"/>
            <a:ext cx="6480502" cy="1617476"/>
            <a:chOff x="0" y="0"/>
            <a:chExt cx="8640670" cy="215663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40652"/>
              <a:ext cx="8640670" cy="1315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5"/>
                </a:lnSpc>
              </a:pPr>
              <a:r>
                <a:rPr lang="en-US" sz="1896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Important symptoms are sometimes overlooked due to the overwhelming amount of information doctors manage during appointments and documentation.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85725"/>
              <a:ext cx="8640670" cy="556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87"/>
                </a:lnSpc>
                <a:spcBef>
                  <a:spcPct val="0"/>
                </a:spcBef>
              </a:pPr>
              <a:r>
                <a:rPr lang="en-US" sz="2348" spc="-70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Missed Symptoms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63582" y="3473307"/>
            <a:ext cx="6480502" cy="1953006"/>
            <a:chOff x="0" y="0"/>
            <a:chExt cx="8640670" cy="260400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40652"/>
              <a:ext cx="8640670" cy="1763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5"/>
                </a:lnSpc>
              </a:pPr>
              <a:r>
                <a:rPr lang="en-US" sz="1896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Many doctors spend excessive time typing notes, which detracts from their ability to engage directly with patients during consultations (possibility to miss symptoms) (Delayed Patient care)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85725"/>
              <a:ext cx="8640670" cy="556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87"/>
                </a:lnSpc>
                <a:spcBef>
                  <a:spcPct val="0"/>
                </a:spcBef>
              </a:pPr>
              <a:r>
                <a:rPr lang="en-US" sz="2348" spc="-70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Doctors' Time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87546" y="7891456"/>
            <a:ext cx="6480502" cy="1617476"/>
            <a:chOff x="0" y="0"/>
            <a:chExt cx="8640670" cy="215663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840652"/>
              <a:ext cx="8640670" cy="1315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5"/>
                </a:lnSpc>
              </a:pPr>
              <a:r>
                <a:rPr lang="en-US" sz="1896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Overall, these challenges highlight the need for innovative solutions that streamline processes, enhance communication, and improve patient care.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85725"/>
              <a:ext cx="8640670" cy="556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87"/>
                </a:lnSpc>
                <a:spcBef>
                  <a:spcPct val="0"/>
                </a:spcBef>
              </a:pPr>
              <a:r>
                <a:rPr lang="en-US" sz="2348" spc="-70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87546" y="5830935"/>
            <a:ext cx="6480502" cy="1617476"/>
            <a:chOff x="0" y="0"/>
            <a:chExt cx="8640670" cy="215663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840652"/>
              <a:ext cx="8640670" cy="1315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5"/>
                </a:lnSpc>
              </a:pPr>
              <a:r>
                <a:rPr lang="en-US" sz="1896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Patients often struggle to articulate their symptoms clearly, contributing to misunderstandings and missed opportunities for effective treatment.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85725"/>
              <a:ext cx="8640670" cy="556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87"/>
                </a:lnSpc>
                <a:spcBef>
                  <a:spcPct val="0"/>
                </a:spcBef>
              </a:pPr>
              <a:r>
                <a:rPr lang="en-US" sz="2348" spc="-70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Communication Issues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87546" y="3641072"/>
            <a:ext cx="6480502" cy="1617476"/>
            <a:chOff x="0" y="0"/>
            <a:chExt cx="8640670" cy="2156635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840652"/>
              <a:ext cx="8640670" cy="1315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5"/>
                </a:lnSpc>
              </a:pPr>
              <a:r>
                <a:rPr lang="en-US" sz="1896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Increased administrative burdens lead to reduced focus on patient care, making it difficult for doctors to build meaningful connections.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85725"/>
              <a:ext cx="8640670" cy="556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87"/>
                </a:lnSpc>
                <a:spcBef>
                  <a:spcPct val="0"/>
                </a:spcBef>
              </a:pPr>
              <a:r>
                <a:rPr lang="en-US" sz="2348" spc="-70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Patient Focus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40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15316" y="514350"/>
            <a:ext cx="5194935" cy="9258300"/>
          </a:xfrm>
          <a:custGeom>
            <a:avLst/>
            <a:gdLst/>
            <a:ahLst/>
            <a:cxnLst/>
            <a:rect r="r" b="b" t="t" l="l"/>
            <a:pathLst>
              <a:path h="9258300" w="5194935">
                <a:moveTo>
                  <a:pt x="0" y="0"/>
                </a:moveTo>
                <a:lnTo>
                  <a:pt x="5194935" y="0"/>
                </a:lnTo>
                <a:lnTo>
                  <a:pt x="5194935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049971" cy="6909746"/>
            <a:chOff x="0" y="0"/>
            <a:chExt cx="12066628" cy="921299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12066628" cy="1757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696"/>
                </a:lnSpc>
                <a:spcBef>
                  <a:spcPct val="0"/>
                </a:spcBef>
              </a:pPr>
              <a:r>
                <a:rPr lang="en-US" sz="8696" spc="-260" strike="noStrike" u="none">
                  <a:solidFill>
                    <a:srgbClr val="FEFFF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 Smart Assistant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63218"/>
              <a:ext cx="12066628" cy="77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74"/>
                </a:lnSpc>
                <a:spcBef>
                  <a:spcPct val="0"/>
                </a:spcBef>
              </a:pPr>
              <a:r>
                <a:rPr lang="en-US" sz="3478" spc="-104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For Doctors and Patients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72414"/>
              <a:ext cx="9981891" cy="2290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EFFFD"/>
                  </a:solidFill>
                  <a:latin typeface="TT Fors"/>
                  <a:ea typeface="TT Fors"/>
                  <a:cs typeface="TT Fors"/>
                  <a:sym typeface="TT Fors"/>
                </a:rPr>
                <a:t>ClinAssist AI is a </a:t>
              </a:r>
              <a:r>
                <a:rPr lang="en-US" b="true" sz="2499">
                  <a:solidFill>
                    <a:srgbClr val="FEFFFD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web-based platform</a:t>
              </a:r>
              <a:r>
                <a:rPr lang="en-US" sz="2499">
                  <a:solidFill>
                    <a:srgbClr val="FEFFFD"/>
                  </a:solidFill>
                  <a:latin typeface="TT Fors"/>
                  <a:ea typeface="TT Fors"/>
                  <a:cs typeface="TT Fors"/>
                  <a:sym typeface="TT Fors"/>
                </a:rPr>
                <a:t> designed to listen and read patient symptoms, organizing medical information instantly while alerting doctors to potentially risky conditions.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346139"/>
              <a:ext cx="9981891" cy="1560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71" indent="-248285" lvl="1">
                <a:lnSpc>
                  <a:spcPts val="3220"/>
                </a:lnSpc>
                <a:buFont typeface="Arial"/>
                <a:buChar char="•"/>
              </a:pPr>
              <a:r>
                <a:rPr lang="en-US" sz="2300">
                  <a:solidFill>
                    <a:srgbClr val="FEFFFD"/>
                  </a:solidFill>
                  <a:latin typeface="TT Fors"/>
                  <a:ea typeface="TT Fors"/>
                  <a:cs typeface="TT Fors"/>
                  <a:sym typeface="TT Fors"/>
                </a:rPr>
                <a:t>Input Versatility: Supports both voice and text inputs to accommodate different clinical environments.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8185988"/>
              <a:ext cx="9981891" cy="1027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71" indent="-248285" lvl="1">
                <a:lnSpc>
                  <a:spcPts val="3220"/>
                </a:lnSpc>
                <a:buFont typeface="Arial"/>
                <a:buChar char="•"/>
              </a:pPr>
              <a:r>
                <a:rPr lang="en-US" sz="2300">
                  <a:solidFill>
                    <a:srgbClr val="FEFFFD"/>
                  </a:solidFill>
                  <a:latin typeface="TT Fors"/>
                  <a:ea typeface="TT Fors"/>
                  <a:cs typeface="TT Fors"/>
                  <a:sym typeface="TT Fors"/>
                </a:rPr>
                <a:t>Privacy First: Secure standalone EMR built on cloud-based Firebase infrastructure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E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69005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Focus on Patients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Enhancing Doctor-Patient Interactions with ClinAssist AI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850342"/>
            <a:chOff x="0" y="0"/>
            <a:chExt cx="9182100" cy="246712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23654"/>
              <a:ext cx="9182100" cy="134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7"/>
                </a:lnSpc>
                <a:spcBef>
                  <a:spcPct val="0"/>
                </a:spcBef>
              </a:pPr>
              <a:r>
                <a:rPr lang="en-US" sz="1955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Doctors can simply speak or type during consultations, allowing for more focus on patient interaction and reducing administrative burdens.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9182100" cy="584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9"/>
                </a:lnSpc>
                <a:spcBef>
                  <a:spcPct val="0"/>
                </a:spcBef>
              </a:pPr>
              <a:r>
                <a:rPr lang="en-US" sz="2421" spc="-72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Streamlined Consultations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850342"/>
            <a:chOff x="0" y="0"/>
            <a:chExt cx="9182100" cy="246712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23654"/>
              <a:ext cx="9182100" cy="134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7"/>
                </a:lnSpc>
                <a:spcBef>
                  <a:spcPct val="0"/>
                </a:spcBef>
              </a:pPr>
              <a:r>
                <a:rPr lang="en-US" sz="1955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ClinAssist AI creates structured medical notes automatically, enabling doctors to maintain accurate records without the distraction of manual entry during visits.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0"/>
              <a:ext cx="9182100" cy="584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9"/>
                </a:lnSpc>
                <a:spcBef>
                  <a:spcPct val="0"/>
                </a:spcBef>
              </a:pPr>
              <a:r>
                <a:rPr lang="en-US" sz="2421" spc="-72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Automated Documentation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2193242"/>
            <a:chOff x="0" y="0"/>
            <a:chExt cx="9182100" cy="292432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23654"/>
              <a:ext cx="9182100" cy="180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7"/>
                </a:lnSpc>
                <a:spcBef>
                  <a:spcPct val="0"/>
                </a:spcBef>
              </a:pPr>
              <a:r>
                <a:rPr lang="en-US" sz="1955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The system categorizes information into Subjective, Objective, Assessment, and Plan, ensuring clear communication and organized documentation for effective patient care.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95250"/>
              <a:ext cx="9182100" cy="584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9"/>
                </a:lnSpc>
                <a:spcBef>
                  <a:spcPct val="0"/>
                </a:spcBef>
              </a:pPr>
              <a:r>
                <a:rPr lang="en-US" sz="2421" spc="-72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SOAP Framework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E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69005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Empowering Patients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53"/>
            <a:chOff x="0" y="0"/>
            <a:chExt cx="9182100" cy="238767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Patients have the flexibility to choose payment options upon delivery, making the process more accessible and user-friendly.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Choose Payment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6886575" cy="1790753"/>
            <a:chOff x="0" y="0"/>
            <a:chExt cx="9182100" cy="238767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The platform generates a summary of the patient's symptoms that can be sent directly to their doctor for review.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Generate Summary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2457450"/>
            <a:ext cx="6886575" cy="1790753"/>
            <a:chOff x="0" y="0"/>
            <a:chExt cx="9182100" cy="238767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Patients can describe their symptoms from the comfort of home, making it easier to communicate with healthcare professionals.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Home to Clinic Care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7829550"/>
            <a:ext cx="6886575" cy="1790753"/>
            <a:chOff x="0" y="0"/>
            <a:chExt cx="9182100" cy="238767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ClinAssist AI improves access to care by reducing pharmacy queues and enhancing communication between patients and healthcare providers.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Pharmacy Integration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96400" y="5143500"/>
            <a:ext cx="6886575" cy="1790753"/>
            <a:chOff x="0" y="0"/>
            <a:chExt cx="9182100" cy="238767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Patients can easily book appointments through ClinAssist AI, streamlining access to healthcare services and reducing wait times.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Book Appointments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96400" y="2457450"/>
            <a:ext cx="6886575" cy="1790753"/>
            <a:chOff x="0" y="0"/>
            <a:chExt cx="9182100" cy="2387671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ClinAssist AI allows patients to request medication delivery to their homes, providing convenience and saving valuable time.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Medication Delivery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E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12750"/>
            <a:ext cx="8511377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0"/>
              </a:lnSpc>
              <a:spcBef>
                <a:spcPct val="0"/>
              </a:spcBef>
            </a:pPr>
            <a:r>
              <a:rPr lang="en-US" sz="6900" spc="-207">
                <a:solidFill>
                  <a:srgbClr val="69005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Business Potential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19367" y="7184347"/>
            <a:ext cx="6886575" cy="2533703"/>
            <a:chOff x="0" y="0"/>
            <a:chExt cx="9182100" cy="337827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91"/>
              <a:ext cx="91821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Cloud-based infrastructure (Firebase Authentication, Firebase Database)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Automatic scaling of users and storage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No physical servers required</a:t>
              </a:r>
            </a:p>
            <a:p>
              <a:pPr algn="l">
                <a:lnSpc>
                  <a:spcPts val="294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Technical Scalability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3399585"/>
            <a:ext cx="6886575" cy="1419278"/>
            <a:chOff x="0" y="0"/>
            <a:chExt cx="9182100" cy="189237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91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Growing demand for AI in healthcare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Increasing documentation burden on clinicians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Market Opportunity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1562073"/>
            <a:ext cx="6886575" cy="1419278"/>
            <a:chOff x="0" y="0"/>
            <a:chExt cx="9182100" cy="189237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91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Hospitals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Clinics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ClinAssistAI operates as SaaS targeting: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78127" y="7989613"/>
            <a:ext cx="6067450" cy="923172"/>
            <a:chOff x="0" y="0"/>
            <a:chExt cx="8089934" cy="123089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28595"/>
              <a:ext cx="8089934" cy="4023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90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8089934" cy="564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84328" y="7184347"/>
            <a:ext cx="6886575" cy="2533703"/>
            <a:chOff x="0" y="0"/>
            <a:chExt cx="9182100" cy="337827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34791"/>
              <a:ext cx="91821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Advanced Risk Ranking (from High risk to Low risk) with color coded alerts.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Download digital reports (PDF)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Automated SOAP documentation generation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Appointment booking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Functional Scalability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84328" y="1433331"/>
            <a:ext cx="8007597" cy="4336952"/>
            <a:chOff x="0" y="0"/>
            <a:chExt cx="10676796" cy="578260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857375"/>
              <a:ext cx="10676796" cy="4925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1912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 Business-to-Business (B2B) Model:</a:t>
              </a:r>
            </a:p>
            <a:p>
              <a:pPr algn="l">
                <a:lnSpc>
                  <a:spcPts val="2677"/>
                </a:lnSpc>
              </a:pPr>
              <a:r>
                <a:rPr lang="en-US" sz="1912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ClinAssist AI operates through paid partnerships with hospitals and pharmacies, enabling institutions to integrate the platform into their clinical workflows. By leveraging AI-powered triage, advanced risk ranking, and automated SOAP documentation, healthcare providers improve operational efficiency and gain a competitive advantage through faster patient prioritisation and streamlined consultations.</a:t>
              </a:r>
            </a:p>
            <a:p>
              <a:pPr algn="l">
                <a:lnSpc>
                  <a:spcPts val="2677"/>
                </a:lnSpc>
              </a:pPr>
            </a:p>
            <a:p>
              <a:pPr algn="l">
                <a:lnSpc>
                  <a:spcPts val="2677"/>
                </a:lnSpc>
              </a:pPr>
              <a:r>
                <a:rPr lang="en-US" sz="1912">
                  <a:solidFill>
                    <a:srgbClr val="440323"/>
                  </a:solidFill>
                  <a:latin typeface="TT Fors"/>
                  <a:ea typeface="TT Fors"/>
                  <a:cs typeface="TT Fors"/>
                  <a:sym typeface="TT Fors"/>
                </a:rPr>
                <a:t>At the same time, patients benefit from reduced waiting times, quicker medical responses, and more coordinated care delivery, creating value for both healthcare institutions and the communities they serve.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95250"/>
              <a:ext cx="10676796" cy="570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4"/>
                </a:lnSpc>
                <a:spcBef>
                  <a:spcPct val="0"/>
                </a:spcBef>
              </a:pPr>
              <a:r>
                <a:rPr lang="en-US" sz="2367" spc="-71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Revenue Model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45676" y="6212162"/>
            <a:ext cx="7033958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9"/>
              </a:lnSpc>
              <a:spcBef>
                <a:spcPct val="0"/>
              </a:spcBef>
            </a:pPr>
            <a:r>
              <a:rPr lang="en-US" sz="6399" spc="-191">
                <a:solidFill>
                  <a:srgbClr val="69005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Product Scalability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505" r="0" b="-5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3113" y="5728275"/>
            <a:ext cx="8324850" cy="3194051"/>
            <a:chOff x="0" y="0"/>
            <a:chExt cx="11099800" cy="425873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69005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What Is Our Future?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1516" y="2896659"/>
              <a:ext cx="11068284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b="true" sz="3199" spc="-95" strike="noStrike" u="none">
                  <a:solidFill>
                    <a:srgbClr val="D67AE8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Unlocking potential</a:t>
              </a:r>
              <a:r>
                <a:rPr lang="en-US" sz="3199" spc="-95" strike="noStrike" u="none">
                  <a:solidFill>
                    <a:srgbClr val="D67A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for better healthcare solutions today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43113" y="204470"/>
            <a:ext cx="9183075" cy="493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While many AI tools struggle with the friction of integrating into legacy systems, ClinAssist AI is built as a standalone, sovereign EMR. We provide a complete, 'out-of-the-box' digital solution for clinics that want to modernize instantly. Because we host the entire journey—from the patient’s first voice note at home to the final color-coded risk assessment in the doctor's office—clinics can modernize their entire workflow instantly, without the technical debt of traditional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Smarter Clinical Documentation</dc:description>
  <dc:identifier>DAHB9NW79aM</dc:identifier>
  <dcterms:modified xsi:type="dcterms:W3CDTF">2011-08-01T06:04:30Z</dcterms:modified>
  <cp:revision>1</cp:revision>
  <dc:title>Presentation - Smarter Clinical Documentation</dc:title>
</cp:coreProperties>
</file>